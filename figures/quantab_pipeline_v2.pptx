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09728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QuantAb  ·  End-to-End Pipeline  [v2 — DR method comparison]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CCD6E8"/>
                </a:solidFill>
              </a:rPr>
              <a:t>Three dimensionality-reduction strategies evaluated: PCA (hackathon) · PLSR (paper, label-predictive) · Random Projection (null baseline) — same classifiers applied to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3080" y="804672"/>
            <a:ext cx="9144" cy="57607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4840" y="804672"/>
            <a:ext cx="9144" cy="57607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0" y="804672"/>
            <a:ext cx="9144" cy="5760720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804672"/>
            <a:ext cx="1600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04672"/>
            <a:ext cx="2514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EMBEDDING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804672"/>
            <a:ext cx="2880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DR METHOD  (experimental axis)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804672"/>
            <a:ext cx="4480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667799"/>
                </a:solidFill>
              </a:rPr>
              <a:t>CLASSIFIERS  (applied to each DR output)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097280"/>
            <a:ext cx="7552944" cy="1389888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2560320"/>
            <a:ext cx="7552944" cy="138988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4023360"/>
            <a:ext cx="7552944" cy="13898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" y="1517904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98FFF"/>
                </a:solidFill>
              </a:rPr>
              <a:t>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" y="2157984"/>
            <a:ext cx="137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ECC9A"/>
                </a:solidFill>
              </a:rPr>
              <a:t>TGT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" y="1444752"/>
            <a:ext cx="1536192" cy="438912"/>
          </a:xfrm>
          <a:prstGeom prst="rect">
            <a:avLst/>
          </a:prstGeom>
          <a:solidFill>
            <a:srgbClr val="125AB5"/>
          </a:solidFill>
          <a:ln w="1524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Antibody Seqs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VH + VL (paired)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" y="2084832"/>
            <a:ext cx="1536192" cy="438912"/>
          </a:xfrm>
          <a:prstGeom prst="rect">
            <a:avLst/>
          </a:prstGeom>
          <a:solidFill>
            <a:srgbClr val="178763"/>
          </a:solidFill>
          <a:ln w="1524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Target Protein Seq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Full sequence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91640" y="1664208"/>
            <a:ext cx="13716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91640" y="2304288"/>
            <a:ext cx="13716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28800" y="1444752"/>
            <a:ext cx="1389888" cy="438912"/>
          </a:xfrm>
          <a:prstGeom prst="rect">
            <a:avLst/>
          </a:prstGeom>
          <a:solidFill>
            <a:srgbClr val="125AB5"/>
          </a:solidFill>
          <a:ln w="1905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BALM-paired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Paired VH+VL → pooled emb.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2084832"/>
            <a:ext cx="1389888" cy="438912"/>
          </a:xfrm>
          <a:prstGeom prst="rect">
            <a:avLst/>
          </a:prstGeom>
          <a:solidFill>
            <a:srgbClr val="178763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ESM2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Protein LM → pooled emb.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18688" y="1664208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18688" y="2304288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364992" y="1444752"/>
            <a:ext cx="969264" cy="438912"/>
          </a:xfrm>
          <a:prstGeom prst="rect">
            <a:avLst/>
          </a:prstGeom>
          <a:solidFill>
            <a:srgbClr val="3A4A6B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Store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dim_ab]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4992" y="2084832"/>
            <a:ext cx="969264" cy="438912"/>
          </a:xfrm>
          <a:prstGeom prst="rect">
            <a:avLst/>
          </a:prstGeom>
          <a:solidFill>
            <a:srgbClr val="3A4A6B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Store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dim_tgt]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34256" y="1664208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34256" y="2304288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462272" y="1600200"/>
            <a:ext cx="219456" cy="34747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★
HACK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444752"/>
            <a:ext cx="1280160" cy="438912"/>
          </a:xfrm>
          <a:prstGeom prst="rect">
            <a:avLst/>
          </a:prstGeom>
          <a:solidFill>
            <a:srgbClr val="125AB5"/>
          </a:solidFill>
          <a:ln w="1905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PCA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dims
(CV Spearman ρ)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2472" y="2084832"/>
            <a:ext cx="1280160" cy="438912"/>
          </a:xfrm>
          <a:prstGeom prst="rect">
            <a:avLst/>
          </a:prstGeom>
          <a:solidFill>
            <a:srgbClr val="178763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PCA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k_tgt dims
(CV Spearman 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1243584"/>
            <a:ext cx="26334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FCC44"/>
                </a:solidFill>
              </a:rPr>
              <a:t>⚠  normalize each modality independently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62472" y="1664208"/>
            <a:ext cx="1371599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42631" y="2304288"/>
            <a:ext cx="9144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462272" y="3063239"/>
            <a:ext cx="219456" cy="347472"/>
          </a:xfrm>
          <a:prstGeom prst="rect">
            <a:avLst/>
          </a:prstGeom>
          <a:solidFill>
            <a:srgbClr val="77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◆
PAPER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2907791"/>
            <a:ext cx="1280160" cy="438912"/>
          </a:xfrm>
          <a:prstGeom prst="rect">
            <a:avLst/>
          </a:prstGeom>
          <a:solidFill>
            <a:srgbClr val="9980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PLSR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dims
(label-predictive)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2472" y="3547872"/>
            <a:ext cx="1280160" cy="438912"/>
          </a:xfrm>
          <a:prstGeom prst="rect">
            <a:avLst/>
          </a:prstGeom>
          <a:solidFill>
            <a:srgbClr val="9980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PLSR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k_tgt dims
(label-predictive)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706623"/>
            <a:ext cx="26334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FD700"/>
                </a:solidFill>
              </a:rPr>
              <a:t>Maximises covariance with affinity  ·  risk: overfits in small-data regime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62472" y="3127248"/>
            <a:ext cx="1371599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42631" y="3767328"/>
            <a:ext cx="9144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462272" y="4526280"/>
            <a:ext cx="219456" cy="3474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∅
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4370832"/>
            <a:ext cx="1280160" cy="438912"/>
          </a:xfrm>
          <a:prstGeom prst="rect">
            <a:avLst/>
          </a:prstGeom>
          <a:solidFill>
            <a:srgbClr val="445577"/>
          </a:solidFill>
          <a:ln w="1524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RandProj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dims
(random linear)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62472" y="5010912"/>
            <a:ext cx="1280160" cy="438912"/>
          </a:xfrm>
          <a:prstGeom prst="rect">
            <a:avLst/>
          </a:prstGeom>
          <a:solidFill>
            <a:srgbClr val="445577"/>
          </a:solidFill>
          <a:ln w="1524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Norm + RandProj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k_tgt dims
(random linear)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169664"/>
            <a:ext cx="263347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8899BB"/>
                </a:solidFill>
              </a:rPr>
              <a:t>If quantum + RandProj ≈ quantum + PCA → Hilbert space geometry &gt; DR quality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062472" y="4590288"/>
            <a:ext cx="1371599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342631" y="5230368"/>
            <a:ext cx="91440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34256" y="1664208"/>
            <a:ext cx="374904" cy="146304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334256" y="1664208"/>
            <a:ext cx="374904" cy="292608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334256" y="2304288"/>
            <a:ext cx="1728216" cy="146304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334256" y="2304288"/>
            <a:ext cx="1728216" cy="292608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479792" y="1170431"/>
            <a:ext cx="4434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FF8C2A"/>
                </a:solidFill>
              </a:rPr>
              <a:t>CLASSICAL BASELINE  (×3 DR methods)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9792" y="1554480"/>
            <a:ext cx="1298448" cy="475488"/>
          </a:xfrm>
          <a:prstGeom prst="rect">
            <a:avLst/>
          </a:prstGeom>
          <a:solidFill>
            <a:srgbClr val="C85A00"/>
          </a:solidFill>
          <a:ln w="15240">
            <a:solidFill>
              <a:srgbClr val="FF8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Concatenate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k_ab + k_tgt]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778240" y="1792224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924544" y="1554480"/>
            <a:ext cx="1389888" cy="475488"/>
          </a:xfrm>
          <a:prstGeom prst="rect">
            <a:avLst/>
          </a:prstGeom>
          <a:solidFill>
            <a:srgbClr val="C85A00"/>
          </a:solidFill>
          <a:ln w="15240">
            <a:solidFill>
              <a:srgbClr val="FF8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SVM · RF · MLP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Linear / RBF / Poly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314432" y="1792224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0460736" y="1554480"/>
            <a:ext cx="1463040" cy="475488"/>
          </a:xfrm>
          <a:prstGeom prst="rect">
            <a:avLst/>
          </a:prstGeom>
          <a:solidFill>
            <a:srgbClr val="FF8C2A"/>
          </a:solidFill>
          <a:ln w="12700">
            <a:solidFill>
              <a:srgbClr val="C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Spearman ρ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vs. affinity (KD)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2633471"/>
            <a:ext cx="4434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A06AFF"/>
                </a:solidFill>
              </a:rPr>
              <a:t>QUANTUM KERNEL  two-register · H_ab ⊗ H_tgt  (×3 DR methods)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889503"/>
            <a:ext cx="1261872" cy="329184"/>
          </a:xfrm>
          <a:prstGeom prst="rect">
            <a:avLst/>
          </a:prstGeom>
          <a:solidFill>
            <a:srgbClr val="632AC8"/>
          </a:solidFill>
          <a:ln w="12700">
            <a:solidFill>
              <a:srgbClr val="29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Register 1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 qubits · AngleEnc(ab)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3291839"/>
            <a:ext cx="1261872" cy="329184"/>
          </a:xfrm>
          <a:prstGeom prst="rect">
            <a:avLst/>
          </a:prstGeom>
          <a:solidFill>
            <a:srgbClr val="632AC8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Register 2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k_tgt qubits · AngleEnc(tgt)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741663" y="3054095"/>
            <a:ext cx="155449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741663" y="3456432"/>
            <a:ext cx="155449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8897112" y="2935223"/>
            <a:ext cx="1234440" cy="640080"/>
          </a:xfrm>
          <a:prstGeom prst="rect">
            <a:avLst/>
          </a:prstGeom>
          <a:solidFill>
            <a:srgbClr val="632AC8"/>
          </a:solidFill>
          <a:ln w="19050">
            <a:solidFill>
              <a:srgbClr val="A06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Entangling
Circuit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BasicEntangler /
StronglyEntangling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131552" y="3255263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0277856" y="3017520"/>
            <a:ext cx="1097280" cy="475488"/>
          </a:xfrm>
          <a:prstGeom prst="rect">
            <a:avLst/>
          </a:prstGeom>
          <a:solidFill>
            <a:srgbClr val="A06AFF"/>
          </a:solidFill>
          <a:ln w="12700">
            <a:solidFill>
              <a:srgbClr val="632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Kernel → SVM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H_ab ⊗ H_tgt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375136" y="3255263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1521440" y="3017520"/>
            <a:ext cx="402336" cy="475488"/>
          </a:xfrm>
          <a:prstGeom prst="rect">
            <a:avLst/>
          </a:prstGeom>
          <a:solidFill>
            <a:srgbClr val="A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79792" y="3639311"/>
            <a:ext cx="44439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BBAAFF"/>
                </a:solidFill>
              </a:rPr>
              <a:t>Qubit budget: (k_ab, k_tgt) = (6,6)·(8,8)·(10,10)·(14,14)  →  12/16/20/28 qubits total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79792" y="4133088"/>
            <a:ext cx="4434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7788AA"/>
                </a:solidFill>
              </a:rPr>
              <a:t>ABLATION — single-register on concatenated  (isolates tensor product benefit)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79792" y="4480560"/>
            <a:ext cx="1298448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Concatenate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[N, k_ab + k_tgt]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778240" y="4718304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8924544" y="4480560"/>
            <a:ext cx="1389888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Single-register QK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k_ab+k_tgt qubits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314432" y="4718304"/>
            <a:ext cx="146304" cy="0"/>
          </a:xfrm>
          <a:prstGeom prst="line">
            <a:avLst/>
          </a:prstGeom>
          <a:ln w="19050">
            <a:solidFill>
              <a:srgbClr val="889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0460736" y="4480560"/>
            <a:ext cx="1463040" cy="475488"/>
          </a:xfrm>
          <a:prstGeom prst="rect">
            <a:avLst/>
          </a:prstGeom>
          <a:solidFill>
            <a:srgbClr val="2A3A55"/>
          </a:solidFill>
          <a:ln w="12700">
            <a:solidFill>
              <a:srgbClr val="55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Spearman ρ</a:t>
            </a:r>
          </a:p>
          <a:p>
            <a:pPr algn="ctr"/>
            <a:r>
              <a:rPr sz="900" b="0">
                <a:solidFill>
                  <a:srgbClr val="CCD6E8"/>
                </a:solidFill>
              </a:rPr>
              <a:t>tensor product benefit?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7160" y="6519672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>
                <a:solidFill>
                  <a:srgbClr val="556688"/>
                </a:solidFill>
              </a:rPr>
              <a:t>All classifier arms see identical reduced features per DR method  ·  Seed = 42  ·  Core analysis: learning curves  ·  DR method is a second experimental axis (PCA vs PLSR vs RandProj)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
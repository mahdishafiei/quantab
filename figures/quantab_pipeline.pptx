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QuantAb  ·  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Paired antibody (VH+VL) and target protein embeddings → separate dimensionality reduction → classical &amp; quantum classifiers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4519" y="804672"/>
            <a:ext cx="9144" cy="589788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17720" y="804672"/>
            <a:ext cx="9144" cy="589788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12280" y="804672"/>
            <a:ext cx="9144" cy="589788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80467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667799"/>
                </a:solidFill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804672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667799"/>
                </a:solidFill>
              </a:rPr>
              <a:t>EMBEDDING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804672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667799"/>
                </a:solidFill>
              </a:rPr>
              <a:t>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804672"/>
            <a:ext cx="5120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667799"/>
                </a:solidFill>
              </a:rPr>
              <a:t>CLASSIFIERS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" y="1755648"/>
            <a:ext cx="13716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98FFF"/>
                </a:solidFill>
              </a:rPr>
              <a:t>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" y="4133088"/>
            <a:ext cx="13716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ECC9A"/>
                </a:solidFill>
              </a:rPr>
              <a:t>TGT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636776"/>
            <a:ext cx="1554480" cy="566928"/>
          </a:xfrm>
          <a:prstGeom prst="rect">
            <a:avLst/>
          </a:prstGeom>
          <a:solidFill>
            <a:srgbClr val="125AB5"/>
          </a:solidFill>
          <a:ln w="1524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Antibody Sequences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Heavy chain (VH)
+ Light chain (VL)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4014216"/>
            <a:ext cx="1554480" cy="566928"/>
          </a:xfrm>
          <a:prstGeom prst="rect">
            <a:avLst/>
          </a:prstGeom>
          <a:solidFill>
            <a:srgbClr val="178763"/>
          </a:solidFill>
          <a:ln w="1524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Target Protein Seq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Full protein sequence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55648" y="1920240"/>
            <a:ext cx="18288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55648" y="4297680"/>
            <a:ext cx="18288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938528" y="1636776"/>
            <a:ext cx="1572768" cy="566928"/>
          </a:xfrm>
          <a:prstGeom prst="rect">
            <a:avLst/>
          </a:prstGeom>
          <a:solidFill>
            <a:srgbClr val="125AB5"/>
          </a:solidFill>
          <a:ln w="1905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BALM-paired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Paired VH+VL input
Pooled embedding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38528" y="4014216"/>
            <a:ext cx="1572768" cy="566928"/>
          </a:xfrm>
          <a:prstGeom prst="rect">
            <a:avLst/>
          </a:prstGeom>
          <a:solidFill>
            <a:srgbClr val="178763"/>
          </a:solidFill>
          <a:ln w="1905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ESM2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Protein LM
Pooled embedding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11296" y="1920240"/>
            <a:ext cx="192024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11296" y="4297680"/>
            <a:ext cx="192024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703320" y="1636776"/>
            <a:ext cx="822960" cy="566928"/>
          </a:xfrm>
          <a:prstGeom prst="rect">
            <a:avLst/>
          </a:prstGeom>
          <a:solidFill>
            <a:srgbClr val="3A4A6B"/>
          </a:solidFill>
          <a:ln w="1270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Store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[N, dim_ab]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4014216"/>
            <a:ext cx="822960" cy="566928"/>
          </a:xfrm>
          <a:prstGeom prst="rect">
            <a:avLst/>
          </a:prstGeom>
          <a:solidFill>
            <a:srgbClr val="3A4A6B"/>
          </a:solidFill>
          <a:ln w="1270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Store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[N, dim_tgt]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26280" y="1920240"/>
            <a:ext cx="155448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26280" y="4297680"/>
            <a:ext cx="155448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681728" y="1636776"/>
            <a:ext cx="1993392" cy="566928"/>
          </a:xfrm>
          <a:prstGeom prst="rect">
            <a:avLst/>
          </a:prstGeom>
          <a:solidFill>
            <a:srgbClr val="125AB5"/>
          </a:solidFill>
          <a:ln w="1524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Normalize + PCA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z-score per dim → k_ab components
(k set by CV Spearman ρ)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1728" y="4014216"/>
            <a:ext cx="1993392" cy="566928"/>
          </a:xfrm>
          <a:prstGeom prst="rect">
            <a:avLst/>
          </a:prstGeom>
          <a:solidFill>
            <a:srgbClr val="178763"/>
          </a:solidFill>
          <a:ln w="1524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Normalize + PCA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z-score per dim → k_tgt components
(k set by CV Spearman ρ)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3154680"/>
            <a:ext cx="20848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FFCC44"/>
                </a:solidFill>
              </a:rPr>
              <a:t>⚠  Normalize each modality independently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75120" y="1920240"/>
            <a:ext cx="201168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75120" y="4297680"/>
            <a:ext cx="201168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876288" y="1664208"/>
            <a:ext cx="182880" cy="256032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876288" y="1664208"/>
            <a:ext cx="182880" cy="2633472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76288" y="1920240"/>
            <a:ext cx="182880" cy="1901951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876288" y="3822191"/>
            <a:ext cx="182880" cy="475489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76288" y="1920240"/>
            <a:ext cx="182880" cy="347472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76288" y="4297680"/>
            <a:ext cx="182880" cy="109728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059168" y="1399032"/>
            <a:ext cx="1389888" cy="530352"/>
          </a:xfrm>
          <a:prstGeom prst="rect">
            <a:avLst/>
          </a:prstGeom>
          <a:solidFill>
            <a:srgbClr val="C85A00"/>
          </a:solidFill>
          <a:ln w="15240">
            <a:solidFill>
              <a:srgbClr val="FF8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Concatenate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[N, k_ab + k_tgt]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49056" y="1664208"/>
            <a:ext cx="18288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631936" y="1399032"/>
            <a:ext cx="1481328" cy="530352"/>
          </a:xfrm>
          <a:prstGeom prst="rect">
            <a:avLst/>
          </a:prstGeom>
          <a:solidFill>
            <a:srgbClr val="C85A00"/>
          </a:solidFill>
          <a:ln w="15240">
            <a:solidFill>
              <a:srgbClr val="FF8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SVM  ·  RF  ·  MLP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Linear / RBF / Poly kernels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113263" y="1664208"/>
            <a:ext cx="182881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0296144" y="1399032"/>
            <a:ext cx="1572768" cy="530352"/>
          </a:xfrm>
          <a:prstGeom prst="rect">
            <a:avLst/>
          </a:prstGeom>
          <a:solidFill>
            <a:srgbClr val="FF8C2A"/>
          </a:solidFill>
          <a:ln w="12700">
            <a:solidFill>
              <a:srgbClr val="C8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Spearman ρ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vs. affinity (KD)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3448" y="1115568"/>
            <a:ext cx="4983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8C2A"/>
                </a:solidFill>
              </a:rPr>
              <a:t>CLASSICAL BASELINE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59168" y="3291839"/>
            <a:ext cx="1536192" cy="457200"/>
          </a:xfrm>
          <a:prstGeom prst="rect">
            <a:avLst/>
          </a:prstGeom>
          <a:solidFill>
            <a:srgbClr val="632AC8"/>
          </a:solidFill>
          <a:ln w="1270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Register 1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k_ab qubits  ·  AngleEncoding(ab)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9168" y="3895344"/>
            <a:ext cx="1536192" cy="457200"/>
          </a:xfrm>
          <a:prstGeom prst="rect">
            <a:avLst/>
          </a:prstGeom>
          <a:solidFill>
            <a:srgbClr val="632AC8"/>
          </a:solidFill>
          <a:ln w="1270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Register 2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k_tgt qubits  ·  AngleEncoding(tgt)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595360" y="3520439"/>
            <a:ext cx="18288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595360" y="4123944"/>
            <a:ext cx="18288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778240" y="3428999"/>
            <a:ext cx="1389888" cy="786384"/>
          </a:xfrm>
          <a:prstGeom prst="rect">
            <a:avLst/>
          </a:prstGeom>
          <a:solidFill>
            <a:srgbClr val="632AC8"/>
          </a:solidFill>
          <a:ln w="19050">
            <a:solidFill>
              <a:srgbClr val="A06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Entangling
Circuit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BasicEntangler
or StronglyEntangling
(2 ansatz variants)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168128" y="3822191"/>
            <a:ext cx="18288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0351008" y="3557015"/>
            <a:ext cx="1188720" cy="530352"/>
          </a:xfrm>
          <a:prstGeom prst="rect">
            <a:avLst/>
          </a:prstGeom>
          <a:solidFill>
            <a:srgbClr val="A06AFF"/>
          </a:solidFill>
          <a:ln w="12700">
            <a:solidFill>
              <a:srgbClr val="632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Kernel
Matrix → SVM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H_ab ⊗ H_tgt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1539728" y="3822191"/>
            <a:ext cx="18288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1722608" y="3557015"/>
            <a:ext cx="164592" cy="530352"/>
          </a:xfrm>
          <a:prstGeom prst="rect">
            <a:avLst/>
          </a:prstGeom>
          <a:solidFill>
            <a:srgbClr val="A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13448" y="3108959"/>
            <a:ext cx="4983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A06AFF"/>
                </a:solidFill>
              </a:rPr>
              <a:t>QUANTUM KERNEL  (two-register, tensor product Hilbert space)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59952" y="427939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BBAAFF"/>
                </a:solidFill>
              </a:rPr>
              <a:t>Qubit budget: (k_ab, k_tgt) = (6,6) / (8,8) / (10,10) / (14,14)  →  12 / 16 / 20 / 28 total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5157216"/>
            <a:ext cx="1389888" cy="475488"/>
          </a:xfrm>
          <a:prstGeom prst="rect">
            <a:avLst/>
          </a:prstGeom>
          <a:solidFill>
            <a:srgbClr val="2A3A55"/>
          </a:solidFill>
          <a:ln w="12700">
            <a:solidFill>
              <a:srgbClr val="55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Concatenate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[N, k_ab + k_tgt]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449056" y="5394960"/>
            <a:ext cx="18288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631936" y="5157216"/>
            <a:ext cx="1389888" cy="475488"/>
          </a:xfrm>
          <a:prstGeom prst="rect">
            <a:avLst/>
          </a:prstGeom>
          <a:solidFill>
            <a:srgbClr val="2A3A55"/>
          </a:solidFill>
          <a:ln w="12700">
            <a:solidFill>
              <a:srgbClr val="55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Single-register
Quantum Kernel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k_ab + k_tgt qubits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021824" y="5394960"/>
            <a:ext cx="18288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0204704" y="5157216"/>
            <a:ext cx="1700784" cy="475488"/>
          </a:xfrm>
          <a:prstGeom prst="rect">
            <a:avLst/>
          </a:prstGeom>
          <a:solidFill>
            <a:srgbClr val="2A3A55"/>
          </a:solidFill>
          <a:ln w="12700">
            <a:solidFill>
              <a:srgbClr val="55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Spearman ρ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Isolates tensor product benefit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13448" y="4937760"/>
            <a:ext cx="4983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7788AA"/>
                </a:solidFill>
              </a:rPr>
              <a:t>ABLATION — single-register on concatenated (controls for tensor product structure)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" y="651052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556688"/>
                </a:solidFill>
              </a:rPr>
              <a:t>All arms see identical reduced features  ·  Same PCA projection  ·  Seed = 42  ·  Primary metric: Spearman ρ(predicted, measured KD)  ·  Core analysis: learning curves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